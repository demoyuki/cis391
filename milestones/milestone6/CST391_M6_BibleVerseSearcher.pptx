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62D55"/>
          </a:solidFill>
          <a:ln cap="flat" cmpd="sng" w="12700">
            <a:solidFill>
              <a:srgbClr val="16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74320" y="3657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CST-391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4320" y="822960"/>
            <a:ext cx="34747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Bible Verse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74320" y="26974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Full Project Presentation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74320" y="31546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Milestone 6 — Benchmark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74320" y="44622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Victor Manuel Marrujo Verdugo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7432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Grand Canyon University  ·  Prof. Bobby Estey  ·  May 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206240" y="1371600"/>
            <a:ext cx="4572000" cy="960120"/>
          </a:xfrm>
          <a:prstGeom prst="rect">
            <a:avLst/>
          </a:prstGeom>
          <a:solidFill>
            <a:srgbClr val="2E5FA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343400" y="1463040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Milestone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343400" y="1847088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Express / Node.js REST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206240" y="2487168"/>
            <a:ext cx="4572000" cy="960120"/>
          </a:xfrm>
          <a:prstGeom prst="rect">
            <a:avLst/>
          </a:prstGeom>
          <a:solidFill>
            <a:srgbClr val="1A3A6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343400" y="2578608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Milestone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343400" y="2962656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Angular Front-End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206240" y="3602736"/>
            <a:ext cx="4572000" cy="96012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343400" y="3694176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Milestone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343400" y="4078224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React Front-End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Agenda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4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4"/>
          <p:cNvSpPr/>
          <p:nvPr/>
        </p:nvSpPr>
        <p:spPr>
          <a:xfrm>
            <a:off x="320040" y="1207008"/>
            <a:ext cx="502920" cy="457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20040" y="124358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60120" y="124358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60120" y="146304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The Bible Verse Searcher — goals, architecture, Christian worldview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20040" y="1847088"/>
            <a:ext cx="502920" cy="457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20040" y="188366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60120" y="188366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60120" y="210312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REST API — Express / Node.js / TypeScript / MySQL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20040" y="2487168"/>
            <a:ext cx="502920" cy="457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20040" y="252374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60120" y="252374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60120" y="274320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Angular Front-End — full CRUD SPA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20040" y="3127248"/>
            <a:ext cx="502920" cy="457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20040" y="316382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60120" y="316382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960120" y="338328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React Front-End — full CRUD SPA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20040" y="3767328"/>
            <a:ext cx="502920" cy="457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320040" y="380390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960120" y="380390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960120" y="402336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Christian worldview perspective on web accessibility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20040" y="4407408"/>
            <a:ext cx="502920" cy="457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20040" y="444398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960120" y="444398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&amp; Q&amp;A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60120" y="466344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Live end-to-end demonstration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D55"/>
          </a:solidFill>
          <a:ln cap="flat" cmpd="sng" w="12700">
            <a:solidFill>
              <a:srgbClr val="16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What it is, why it was built, and how it works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Victor Manuel Marrujo Verdugo  ·  CST-391  ·  Grand Canyon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0" y="0"/>
            <a:ext cx="63900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Bible Verse Searcher — Application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6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6"/>
          <p:cNvSpPr/>
          <p:nvPr/>
        </p:nvSpPr>
        <p:spPr>
          <a:xfrm>
            <a:off x="320040" y="1700891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20050" y="2020928"/>
            <a:ext cx="4023300" cy="10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Search scripture by keyword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Browse by Book and Chapter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Attach personal notes to any verse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Christian worldview — built for Bible study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663440" y="1700891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663450" y="2020927"/>
            <a:ext cx="42063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MySQL 8 — relational 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Express / Node.js — REST API (M3)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Angular 17 — front-end #1 (M4)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React 18 — front-end #2 (M5)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Both UIs consume the same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371600" y="4463593"/>
            <a:ext cx="6217800" cy="4572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463040" y="4481881"/>
            <a:ext cx="603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/ Angular (SPA)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371600" y="3896665"/>
            <a:ext cx="6217800" cy="457200"/>
          </a:xfrm>
          <a:prstGeom prst="rect">
            <a:avLst/>
          </a:prstGeom>
          <a:solidFill>
            <a:srgbClr val="2E5FA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1463040" y="3914953"/>
            <a:ext cx="603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Express REST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371600" y="3329737"/>
            <a:ext cx="6217800" cy="45720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463040" y="3348025"/>
            <a:ext cx="603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164600" y="1078975"/>
            <a:ext cx="89379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was created to help users search Bible verses, browse scripture, and save personal notes while giving me hands-on experience building a full-stack web application.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D55"/>
          </a:solidFill>
          <a:ln cap="flat" cmpd="sng" w="12700">
            <a:solidFill>
              <a:srgbClr val="16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REST API — Express · Node.js · TypeScript · MySQL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Victor Manuel Marrujo Verdugo  ·  CST-391  ·  Grand Canyon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MILESTONE 3 — REST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 &amp;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8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8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94360" y="1371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Client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2743200" y="137160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Postman  /  Angular (M4)  /  React (M5)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8"/>
          <p:cNvCxnSpPr/>
          <p:nvPr/>
        </p:nvCxnSpPr>
        <p:spPr>
          <a:xfrm>
            <a:off x="4480560" y="1965960"/>
            <a:ext cx="0" cy="155448"/>
          </a:xfrm>
          <a:prstGeom prst="straightConnector1">
            <a:avLst/>
          </a:prstGeom>
          <a:noFill/>
          <a:ln cap="flat" cmpd="sng" w="254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8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2E5FA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594360" y="22402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API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2743200" y="224028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Node.js 20  ·  Express 4  ·  TypeScript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8"/>
          <p:cNvCxnSpPr/>
          <p:nvPr/>
        </p:nvCxnSpPr>
        <p:spPr>
          <a:xfrm>
            <a:off x="4480560" y="2834640"/>
            <a:ext cx="0" cy="155448"/>
          </a:xfrm>
          <a:prstGeom prst="straightConnector1">
            <a:avLst/>
          </a:prstGeom>
          <a:noFill/>
          <a:ln cap="flat" cmpd="sng" w="254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8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A3A6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594360" y="31089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Data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743200" y="310896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mysql2/promise  ·  Connection Pool (max 10)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8"/>
          <p:cNvCxnSpPr/>
          <p:nvPr/>
        </p:nvCxnSpPr>
        <p:spPr>
          <a:xfrm>
            <a:off x="4480560" y="3703320"/>
            <a:ext cx="0" cy="155448"/>
          </a:xfrm>
          <a:prstGeom prst="straightConnector1">
            <a:avLst/>
          </a:prstGeom>
          <a:noFill/>
          <a:ln cap="flat" cmpd="sng" w="254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8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594360" y="39776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2743200" y="397764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8  ·  3 tables  ·  FK + FULLTEXT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MILESTONE 3 — REST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 Endpoints — 3 Resource Collections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9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9"/>
          <p:cNvSpPr/>
          <p:nvPr/>
        </p:nvSpPr>
        <p:spPr>
          <a:xfrm>
            <a:off x="137160" y="1207008"/>
            <a:ext cx="8823960" cy="329184"/>
          </a:xfrm>
          <a:prstGeom prst="rect">
            <a:avLst/>
          </a:prstGeom>
          <a:solidFill>
            <a:srgbClr val="1A3258"/>
          </a:solidFill>
          <a:ln cap="flat" cmpd="sng" w="12700">
            <a:solidFill>
              <a:srgbClr val="1A3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201168" y="1243584"/>
            <a:ext cx="694944" cy="256032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201168" y="1261872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969264" y="124358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/api/books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852160" y="124358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all 66 books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201168" y="1591056"/>
            <a:ext cx="694944" cy="256032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201168" y="1609344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969264" y="159105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/api/verses?q=grace&amp;testament=NT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852160" y="159105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Keyword search + filter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37160" y="1901952"/>
            <a:ext cx="8823960" cy="329184"/>
          </a:xfrm>
          <a:prstGeom prst="rect">
            <a:avLst/>
          </a:prstGeom>
          <a:solidFill>
            <a:srgbClr val="1A3258"/>
          </a:solidFill>
          <a:ln cap="flat" cmpd="sng" w="12700">
            <a:solidFill>
              <a:srgbClr val="1A3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201168" y="1938528"/>
            <a:ext cx="694944" cy="256032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201168" y="1956816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969264" y="193852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/api/verses?book=43&amp;chapter=3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852160" y="193852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 browse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01168" y="2286000"/>
            <a:ext cx="694944" cy="256032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201168" y="2304288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969264" y="22860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/api/verses/:id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852160" y="22860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verse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37160" y="2596896"/>
            <a:ext cx="8823960" cy="329184"/>
          </a:xfrm>
          <a:prstGeom prst="rect">
            <a:avLst/>
          </a:prstGeom>
          <a:solidFill>
            <a:srgbClr val="1A3258"/>
          </a:solidFill>
          <a:ln cap="flat" cmpd="sng" w="12700">
            <a:solidFill>
              <a:srgbClr val="1A3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201168" y="2633472"/>
            <a:ext cx="694944" cy="256032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201168" y="2651760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969264" y="2633472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/api/verses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852160" y="263347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verse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201168" y="2980944"/>
            <a:ext cx="694944" cy="256032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201168" y="2999232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969264" y="298094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/api/verses/:id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852160" y="298094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 verse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37160" y="3291840"/>
            <a:ext cx="8823960" cy="329184"/>
          </a:xfrm>
          <a:prstGeom prst="rect">
            <a:avLst/>
          </a:prstGeom>
          <a:solidFill>
            <a:srgbClr val="1A3258"/>
          </a:solidFill>
          <a:ln cap="flat" cmpd="sng" w="12700">
            <a:solidFill>
              <a:srgbClr val="1A3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201168" y="3328416"/>
            <a:ext cx="694944" cy="256032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201168" y="3346704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969264" y="332841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/api/verses/:id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852160" y="33284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verse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201168" y="3675888"/>
            <a:ext cx="694944" cy="256032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201168" y="3694176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969264" y="367588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/api/verses/:id/notes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852160" y="367588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notes for verse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37160" y="3986784"/>
            <a:ext cx="8823960" cy="329184"/>
          </a:xfrm>
          <a:prstGeom prst="rect">
            <a:avLst/>
          </a:prstGeom>
          <a:solidFill>
            <a:srgbClr val="1A3258"/>
          </a:solidFill>
          <a:ln cap="flat" cmpd="sng" w="12700">
            <a:solidFill>
              <a:srgbClr val="1A3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201168" y="4023360"/>
            <a:ext cx="694944" cy="256032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201168" y="4041648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969264" y="402336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/api/verses/:id/notes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852160" y="40233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a note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201168" y="4370832"/>
            <a:ext cx="694944" cy="256032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201168" y="4389120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969264" y="4370832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/api/verses/:id/notes/:nid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852160" y="437083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 a note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37160" y="4681728"/>
            <a:ext cx="8823960" cy="329184"/>
          </a:xfrm>
          <a:prstGeom prst="rect">
            <a:avLst/>
          </a:prstGeom>
          <a:solidFill>
            <a:srgbClr val="1A3258"/>
          </a:solidFill>
          <a:ln cap="flat" cmpd="sng" w="12700">
            <a:solidFill>
              <a:srgbClr val="1A3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201168" y="4718304"/>
            <a:ext cx="694944" cy="256032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201168" y="4736592"/>
            <a:ext cx="69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969264" y="471830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/api/verses/:id/notes/:nid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852160" y="471830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a note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MILESTONE 3 — 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MySQL Schema — 3 Tables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0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0"/>
          <p:cNvSpPr/>
          <p:nvPr/>
        </p:nvSpPr>
        <p:spPr>
          <a:xfrm>
            <a:off x="228600" y="1234440"/>
            <a:ext cx="265176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228600" y="1234440"/>
            <a:ext cx="2651760" cy="365760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320040" y="1261872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bible_books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228600" y="1691640"/>
            <a:ext cx="2651760" cy="4572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320040" y="175564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book_id INT PK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20040" y="225856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book_name VARCHAR(50)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228600" y="2697480"/>
            <a:ext cx="2651760" cy="4572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20040" y="276148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testament VARCHAR(3)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20040" y="326440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chapter_count 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246120" y="1234440"/>
            <a:ext cx="265176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3246120" y="1234440"/>
            <a:ext cx="2651760" cy="365760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3337560" y="1261872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bible_verses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246120" y="1691640"/>
            <a:ext cx="2651760" cy="4572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3337560" y="175564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id INT PK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337560" y="225856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book_id INT FK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246120" y="2697480"/>
            <a:ext cx="2651760" cy="4572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3337560" y="276148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chapter 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337560" y="326440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verse_num 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246120" y="3703320"/>
            <a:ext cx="2651760" cy="4572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3337560" y="376732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text VARCHAR(800)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263640" y="1234440"/>
            <a:ext cx="265176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263640" y="1234440"/>
            <a:ext cx="2651760" cy="365760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355080" y="1261872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verse_notes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263640" y="1691640"/>
            <a:ext cx="2651760" cy="4572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355080" y="175564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note_id INT PK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355080" y="225856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verse_id INT FK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263640" y="2697480"/>
            <a:ext cx="2651760" cy="4572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355080" y="276148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note_text VARCHAR(800)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355080" y="326440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created_at DATETIME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263640" y="3703320"/>
            <a:ext cx="2651760" cy="4572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355080" y="376732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updated_at DATETIME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10"/>
          <p:cNvCxnSpPr/>
          <p:nvPr/>
        </p:nvCxnSpPr>
        <p:spPr>
          <a:xfrm>
            <a:off x="2880360" y="233172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10"/>
          <p:cNvCxnSpPr/>
          <p:nvPr/>
        </p:nvCxnSpPr>
        <p:spPr>
          <a:xfrm>
            <a:off x="5897880" y="233172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0"/>
          <p:cNvSpPr/>
          <p:nvPr/>
        </p:nvSpPr>
        <p:spPr>
          <a:xfrm>
            <a:off x="2815588" y="1783100"/>
            <a:ext cx="4953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 ──────── Many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806447" y="2011690"/>
            <a:ext cx="495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 ──────── Many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D55"/>
          </a:solidFill>
          <a:ln cap="flat" cmpd="sng" w="12700">
            <a:solidFill>
              <a:srgbClr val="16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Angular 17 Front-End — Standalone Components · Bootstrap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Victor Manuel Marrujo Verdugo  ·  CST-391  ·  Grand Canyon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MILESTONE 4 — ANGULAR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Full CRUD — Angular Component Map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2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2"/>
          <p:cNvSpPr/>
          <p:nvPr/>
        </p:nvSpPr>
        <p:spPr>
          <a:xfrm>
            <a:off x="164592" y="1207008"/>
            <a:ext cx="8686800" cy="548640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201168" y="1298448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1248918" y="1298448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3058668" y="1298448"/>
            <a:ext cx="2383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5497068" y="1298448"/>
            <a:ext cx="3564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164592" y="1828800"/>
            <a:ext cx="868680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201168" y="1920240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READ (all)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1248918" y="1920240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/verses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3058668" y="1920240"/>
            <a:ext cx="2383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VerseListComponent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497068" y="1920240"/>
            <a:ext cx="3564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GET /api/verses?q=&amp;testament=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164592" y="2450592"/>
            <a:ext cx="8686800" cy="548640"/>
          </a:xfrm>
          <a:prstGeom prst="rect">
            <a:avLst/>
          </a:prstGeom>
          <a:solidFill>
            <a:srgbClr val="EDF2FA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201168" y="2542032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1248918" y="2542032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/verses/new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3058668" y="2542032"/>
            <a:ext cx="2383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VerseFormComponent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497068" y="2542032"/>
            <a:ext cx="3564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POST /api/verses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164592" y="3072384"/>
            <a:ext cx="868680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201168" y="3163824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READ (one)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1248918" y="3163824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/verses/:id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3058668" y="3163824"/>
            <a:ext cx="2383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VerseDetailComponent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5497068" y="3163824"/>
            <a:ext cx="3564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GET /api/verses/:id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164592" y="3694176"/>
            <a:ext cx="8686800" cy="548640"/>
          </a:xfrm>
          <a:prstGeom prst="rect">
            <a:avLst/>
          </a:prstGeom>
          <a:solidFill>
            <a:srgbClr val="EDF2FA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201168" y="3785616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1248918" y="3785616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/verses/:id/edit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3058668" y="3785616"/>
            <a:ext cx="2383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VerseFormComponent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497068" y="3785616"/>
            <a:ext cx="3564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PUT /api/verses/:id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164592" y="4315968"/>
            <a:ext cx="868680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201168" y="4407408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248918" y="4407408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(button)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3058668" y="4407408"/>
            <a:ext cx="2383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VerseList / VerseDetail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497068" y="4407408"/>
            <a:ext cx="3564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DELETE /api/verses/:id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164592" y="4864593"/>
            <a:ext cx="8686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Angular specifics: Standalone Components · provideHttpClient() · RouterLinkActive · Lazy-loaded routes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MILESTONE 4 — ANGULAR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Angular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3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3"/>
          <p:cNvSpPr/>
          <p:nvPr/>
        </p:nvSpPr>
        <p:spPr>
          <a:xfrm>
            <a:off x="320040" y="11887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Component 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320040" y="1508760"/>
            <a:ext cx="4023360" cy="4572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411480" y="1545336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NavbarComponent (global layout)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3"/>
          <p:cNvCxnSpPr/>
          <p:nvPr/>
        </p:nvCxnSpPr>
        <p:spPr>
          <a:xfrm>
            <a:off x="2331720" y="1965960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13"/>
          <p:cNvSpPr/>
          <p:nvPr/>
        </p:nvSpPr>
        <p:spPr>
          <a:xfrm>
            <a:off x="320040" y="2075688"/>
            <a:ext cx="4023360" cy="457200"/>
          </a:xfrm>
          <a:prstGeom prst="rect">
            <a:avLst/>
          </a:prstGeom>
          <a:solidFill>
            <a:srgbClr val="2E5FA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411480" y="211226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VerseListComponent — /verses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3"/>
          <p:cNvCxnSpPr/>
          <p:nvPr/>
        </p:nvCxnSpPr>
        <p:spPr>
          <a:xfrm>
            <a:off x="2331720" y="2532888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3"/>
          <p:cNvSpPr/>
          <p:nvPr/>
        </p:nvSpPr>
        <p:spPr>
          <a:xfrm>
            <a:off x="320040" y="2642616"/>
            <a:ext cx="4023360" cy="457200"/>
          </a:xfrm>
          <a:prstGeom prst="rect">
            <a:avLst/>
          </a:prstGeom>
          <a:solidFill>
            <a:srgbClr val="2E5FA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411480" y="267919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VerseFormComponent — /verses/new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3"/>
          <p:cNvCxnSpPr/>
          <p:nvPr/>
        </p:nvCxnSpPr>
        <p:spPr>
          <a:xfrm>
            <a:off x="2331720" y="3099816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3"/>
          <p:cNvSpPr/>
          <p:nvPr/>
        </p:nvSpPr>
        <p:spPr>
          <a:xfrm>
            <a:off x="320040" y="3209544"/>
            <a:ext cx="4023360" cy="457200"/>
          </a:xfrm>
          <a:prstGeom prst="rect">
            <a:avLst/>
          </a:prstGeom>
          <a:solidFill>
            <a:srgbClr val="2E5FA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411480" y="324612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VerseDetailComponent — /verses/:id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3"/>
          <p:cNvCxnSpPr/>
          <p:nvPr/>
        </p:nvCxnSpPr>
        <p:spPr>
          <a:xfrm>
            <a:off x="2331720" y="3666744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3"/>
          <p:cNvSpPr/>
          <p:nvPr/>
        </p:nvSpPr>
        <p:spPr>
          <a:xfrm>
            <a:off x="320040" y="3776472"/>
            <a:ext cx="4023360" cy="457200"/>
          </a:xfrm>
          <a:prstGeom prst="rect">
            <a:avLst/>
          </a:prstGeom>
          <a:solidFill>
            <a:srgbClr val="2E5FA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411480" y="381304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VerseFormComponent — /verses/:id/edit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846320" y="118872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Key Decisions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846320" y="1508760"/>
            <a:ext cx="40233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Angular 17 standalone — no NgModule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VerseService centralizes all HTTP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Lazy-loaded routes reduce initial bundle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 form component for Create + Edit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Bootstrap 5 via CDN — no wrapper library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CORS handled by Express cors() middleware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D55"/>
          </a:solidFill>
          <a:ln cap="flat" cmpd="sng" w="12700">
            <a:solidFill>
              <a:srgbClr val="16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React 18 Front-End — Hooks · React Router v6 · Vite · Axios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Victor Manuel Marrujo Verdugo  ·  CST-391  ·  Grand Canyon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MILESTONE 5 —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Full CRUD — React Component Map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5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15"/>
          <p:cNvSpPr/>
          <p:nvPr/>
        </p:nvSpPr>
        <p:spPr>
          <a:xfrm>
            <a:off x="164592" y="1207008"/>
            <a:ext cx="8686800" cy="548640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201168" y="1298448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1248918" y="1298448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3058668" y="1298448"/>
            <a:ext cx="2040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5154168" y="1298448"/>
            <a:ext cx="3907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164592" y="1828800"/>
            <a:ext cx="868680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201168" y="1920240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READ (all)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1248918" y="1920240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/verses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3058668" y="1920240"/>
            <a:ext cx="2040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VerseList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5154168" y="1920240"/>
            <a:ext cx="3907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GET /api/verses?q=&amp;testament=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164592" y="2450592"/>
            <a:ext cx="8686800" cy="548640"/>
          </a:xfrm>
          <a:prstGeom prst="rect">
            <a:avLst/>
          </a:prstGeom>
          <a:solidFill>
            <a:srgbClr val="EDF2FA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201168" y="2542032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1248918" y="2542032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/verses/new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3058668" y="2542032"/>
            <a:ext cx="2040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VerseForm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5154168" y="2542032"/>
            <a:ext cx="3907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POST /api/verses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164592" y="3072384"/>
            <a:ext cx="868680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201168" y="3163824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READ (one)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1248918" y="3163824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/verses/:id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3058668" y="3163824"/>
            <a:ext cx="2040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VerseDetail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154168" y="3163824"/>
            <a:ext cx="3907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GET /api/verses/:id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164592" y="3694176"/>
            <a:ext cx="8686800" cy="548640"/>
          </a:xfrm>
          <a:prstGeom prst="rect">
            <a:avLst/>
          </a:prstGeom>
          <a:solidFill>
            <a:srgbClr val="EDF2FA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201168" y="3785616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1248918" y="3785616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/verses/:id/edit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3058668" y="3785616"/>
            <a:ext cx="2040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VerseForm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154168" y="3785616"/>
            <a:ext cx="3907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PUT /api/verses/:id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164592" y="4315968"/>
            <a:ext cx="868680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201168" y="4407408"/>
            <a:ext cx="992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1248918" y="4407408"/>
            <a:ext cx="175488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(button)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3058668" y="4407408"/>
            <a:ext cx="20406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VerseList / VerseDetail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5154168" y="4407408"/>
            <a:ext cx="3907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DELETE /api/verses/:id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164592" y="4816468"/>
            <a:ext cx="8686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React specifics: useState + useEffect hooks · useParams for shared form · Axios .then(r =&gt; r.data) · Vite HMR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Angular vs React — Side by Side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6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6"/>
          <p:cNvSpPr/>
          <p:nvPr/>
        </p:nvSpPr>
        <p:spPr>
          <a:xfrm>
            <a:off x="164592" y="1207008"/>
            <a:ext cx="8686800" cy="393192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33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201168" y="1261872"/>
            <a:ext cx="1907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2163318" y="1261872"/>
            <a:ext cx="34122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Angular (M4)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5630418" y="1261872"/>
            <a:ext cx="3431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(M5)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164592" y="1636776"/>
            <a:ext cx="8686800" cy="393192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33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201168" y="1691640"/>
            <a:ext cx="1907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Framework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2163318" y="1691640"/>
            <a:ext cx="34122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Full framework (opinionated)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5630418" y="1691640"/>
            <a:ext cx="3431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UI library (flexible)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164592" y="2066544"/>
            <a:ext cx="8686800" cy="393192"/>
          </a:xfrm>
          <a:prstGeom prst="rect">
            <a:avLst/>
          </a:prstGeom>
          <a:solidFill>
            <a:srgbClr val="1A3258"/>
          </a:solidFill>
          <a:ln cap="flat" cmpd="sng" w="12700">
            <a:solidFill>
              <a:srgbClr val="33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201168" y="2121408"/>
            <a:ext cx="1907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2163318" y="2121408"/>
            <a:ext cx="34122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@angular/router + loadComponent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5630418" y="2121408"/>
            <a:ext cx="3431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React Router v6 + BrowserRouter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164592" y="2496312"/>
            <a:ext cx="8686800" cy="393192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33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201168" y="2551176"/>
            <a:ext cx="1907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2163318" y="2551176"/>
            <a:ext cx="34122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Angular HttpClient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630418" y="2551176"/>
            <a:ext cx="3431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Axios (async/await)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164592" y="2926080"/>
            <a:ext cx="8686800" cy="393192"/>
          </a:xfrm>
          <a:prstGeom prst="rect">
            <a:avLst/>
          </a:prstGeom>
          <a:solidFill>
            <a:srgbClr val="1A3258"/>
          </a:solidFill>
          <a:ln cap="flat" cmpd="sng" w="12700">
            <a:solidFill>
              <a:srgbClr val="33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201168" y="2980944"/>
            <a:ext cx="1907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2163318" y="2980944"/>
            <a:ext cx="34122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Class properties + ngOnInit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630418" y="2980944"/>
            <a:ext cx="3431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useState + useEffect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164592" y="3355848"/>
            <a:ext cx="8686800" cy="393192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33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201168" y="3410712"/>
            <a:ext cx="1907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Templates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2163318" y="3410712"/>
            <a:ext cx="34122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HTML + *ngFor / *ngIf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5630418" y="3410712"/>
            <a:ext cx="3431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JSX (JavaScript in markup)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164592" y="3785616"/>
            <a:ext cx="8686800" cy="393192"/>
          </a:xfrm>
          <a:prstGeom prst="rect">
            <a:avLst/>
          </a:prstGeom>
          <a:solidFill>
            <a:srgbClr val="1A3258"/>
          </a:solidFill>
          <a:ln cap="flat" cmpd="sng" w="12700">
            <a:solidFill>
              <a:srgbClr val="33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201168" y="3840480"/>
            <a:ext cx="1907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Shared form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2163318" y="3840480"/>
            <a:ext cx="34122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Route :id param in component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5630418" y="3840480"/>
            <a:ext cx="3431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useParams() hook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164592" y="4215384"/>
            <a:ext cx="8686800" cy="393192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33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201168" y="4270248"/>
            <a:ext cx="1907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2163318" y="4270248"/>
            <a:ext cx="34122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Angular CLI / webpack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5630418" y="4270248"/>
            <a:ext cx="3431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Vite (faster HMR)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164592" y="4645152"/>
            <a:ext cx="8686800" cy="393192"/>
          </a:xfrm>
          <a:prstGeom prst="rect">
            <a:avLst/>
          </a:prstGeom>
          <a:solidFill>
            <a:srgbClr val="1A3258"/>
          </a:solidFill>
          <a:ln cap="flat" cmpd="sng" w="12700">
            <a:solidFill>
              <a:srgbClr val="33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201168" y="4700016"/>
            <a:ext cx="1907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2163318" y="4700016"/>
            <a:ext cx="341223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localhost:4200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5630418" y="4700016"/>
            <a:ext cx="343128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D9E1F2"/>
                </a:solidFill>
                <a:latin typeface="Courier New"/>
                <a:ea typeface="Courier New"/>
                <a:cs typeface="Courier New"/>
                <a:sym typeface="Courier New"/>
              </a:rPr>
              <a:t>localhost:5173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7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D55"/>
          </a:solidFill>
          <a:ln cap="flat" cmpd="sng" w="12700">
            <a:solidFill>
              <a:srgbClr val="16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Accessibility &amp; Christian Worldview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Designing for everyone — a moral and practical imperative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Victor Manuel Marrujo Verdugo  ·  CST-391  ·  Grand Canyon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Christian Perspective on Web Accessibility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18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18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solidFill>
            <a:srgbClr val="1A3258"/>
          </a:solidFill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“Love your neighbor as yourself.” — Matthew 22:39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320040" y="2286000"/>
            <a:ext cx="8503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As Christian developers, we are called to serve all people</a:t>
            </a:r>
            <a:r>
              <a:rPr lang="en-US" sz="1250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, and this will always </a:t>
            </a:r>
            <a:r>
              <a:rPr lang="en-US" sz="1250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include</a:t>
            </a:r>
            <a:r>
              <a:rPr b="0" i="0" lang="en-US" sz="125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 those with disabilities. Web accessibility is not merely a legal checkbox; it is an expression of the command to love our neighbor. When we build digital tools, we are stewards of technology with a responsibility to ensure no one is excluded from accessing information, services, or</a:t>
            </a:r>
            <a:r>
              <a:rPr lang="en-US" sz="1250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5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 in this project</a:t>
            </a:r>
            <a:r>
              <a:rPr lang="en-US" sz="1250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25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scripture itself.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320040" y="379476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 in 4 U.S. adults live with a disability. Inaccessible websites exclude them entirely.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WCAG Guidelines &amp; UX Impact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6" name="Google Shape;446;p19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19"/>
          <p:cNvSpPr/>
          <p:nvPr/>
        </p:nvSpPr>
        <p:spPr>
          <a:xfrm>
            <a:off x="228600" y="1234440"/>
            <a:ext cx="4206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228600" y="1234440"/>
            <a:ext cx="4206240" cy="347472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338328" y="1289304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👁️ Perceivable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338328" y="1691640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Alt text on all images (e.g., verse screenshots)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338328" y="2039112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Sufficient color contrast (4.5:1 minimum ratio)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338328" y="2386584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Captions or transcripts for screencasts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4663440" y="1234440"/>
            <a:ext cx="4206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9"/>
          <p:cNvSpPr/>
          <p:nvPr/>
        </p:nvSpPr>
        <p:spPr>
          <a:xfrm>
            <a:off x="4663440" y="1234440"/>
            <a:ext cx="4206240" cy="347472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"/>
          <p:cNvSpPr/>
          <p:nvPr/>
        </p:nvSpPr>
        <p:spPr>
          <a:xfrm>
            <a:off x="4773168" y="1289304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🖱️ Operable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4773168" y="1691640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Full keyboard navigation (Tab, Enter, Escape)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4773168" y="2039112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Skip-to-content link at top of page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4773168" y="2386584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No keyboard traps in modals or dropdowns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228600" y="3063240"/>
            <a:ext cx="4206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9"/>
          <p:cNvSpPr/>
          <p:nvPr/>
        </p:nvSpPr>
        <p:spPr>
          <a:xfrm>
            <a:off x="228600" y="3063240"/>
            <a:ext cx="4206240" cy="347472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9"/>
          <p:cNvSpPr/>
          <p:nvPr/>
        </p:nvSpPr>
        <p:spPr>
          <a:xfrm>
            <a:off x="338328" y="3118104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📖 Understandable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338328" y="3520440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Clear form labels — not just placeholder 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338328" y="3867912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Descriptive error messages per field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338328" y="4215384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Consistent navigation across every page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4663440" y="3063240"/>
            <a:ext cx="4206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4663440" y="3063240"/>
            <a:ext cx="4206240" cy="347472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4773168" y="3118104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Robust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4773168" y="3520440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Semantic HTML (nav, main, button, not div)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4773168" y="3867912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ARIA roles where semantics are insufficient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4773168" y="4215384"/>
            <a:ext cx="39867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Screen reader testing with NVDA or VoiceOver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Practices Applied to This Project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p20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20"/>
          <p:cNvSpPr/>
          <p:nvPr/>
        </p:nvSpPr>
        <p:spPr>
          <a:xfrm>
            <a:off x="320040" y="11887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Already Implemented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320040" y="1508760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Bootstrap 5 components — keyboard-accessible by default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HTML — &lt;nav&gt;, &lt;main&gt;, &lt;button&gt;, &lt;form&gt;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Color contrast — Bootstrap primary blue passes WCAG AA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 labels — every input has a visible &lt;label&gt; element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 dialogs before destructive actions (delete verse)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4754880" y="11887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Planned Improvements (M6+)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4754880" y="1508760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Add aria-label to icon-only buttons (Edit, Delete)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9E1F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Add role='alert' to error message containers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9E1F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Add skip-to-content link at top of page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9E1F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Test full keyboard navigation (Tab order audit)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9E1F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Run Lighthouse accessibility audit (target score 90+)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Making scripture accessible to all people — regardless of ability — is central to this project’s mission.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D55"/>
          </a:solidFill>
          <a:ln cap="flat" cmpd="sng" w="12700">
            <a:solidFill>
              <a:srgbClr val="16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1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&amp; Lessons Learned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Across all three milestones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Victor Manuel Marrujo Verdugo  ·  CST-391  ·  Grand Canyon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2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RETROSPECTIVE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Top Challenges Across All Milestones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5" name="Google Shape;505;p22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22"/>
          <p:cNvSpPr/>
          <p:nvPr/>
        </p:nvSpPr>
        <p:spPr>
          <a:xfrm>
            <a:off x="228600" y="1234440"/>
            <a:ext cx="4206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2"/>
          <p:cNvSpPr/>
          <p:nvPr/>
        </p:nvSpPr>
        <p:spPr>
          <a:xfrm>
            <a:off x="228600" y="1234440"/>
            <a:ext cx="4206240" cy="347472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2"/>
          <p:cNvSpPr/>
          <p:nvPr/>
        </p:nvSpPr>
        <p:spPr>
          <a:xfrm>
            <a:off x="338328" y="1280160"/>
            <a:ext cx="502920" cy="256032"/>
          </a:xfrm>
          <a:prstGeom prst="roundRect">
            <a:avLst>
              <a:gd fmla="val 21429" name="adj"/>
            </a:avLst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2"/>
          <p:cNvSpPr/>
          <p:nvPr/>
        </p:nvSpPr>
        <p:spPr>
          <a:xfrm>
            <a:off x="338328" y="129844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2"/>
          <p:cNvSpPr/>
          <p:nvPr/>
        </p:nvSpPr>
        <p:spPr>
          <a:xfrm>
            <a:off x="914400" y="1298448"/>
            <a:ext cx="3410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mergeParams for nested routers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338328" y="1673352"/>
            <a:ext cx="39867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Express doesn't forward :id params to mounted sub-routers by default. mergeParams: true on the notes router was essential and is now a standing template item for every nested REST API.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4663440" y="1234440"/>
            <a:ext cx="4206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2"/>
          <p:cNvSpPr/>
          <p:nvPr/>
        </p:nvSpPr>
        <p:spPr>
          <a:xfrm>
            <a:off x="4663440" y="1234440"/>
            <a:ext cx="4206240" cy="347472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>
            <a:off x="4773168" y="1280160"/>
            <a:ext cx="502920" cy="256032"/>
          </a:xfrm>
          <a:prstGeom prst="roundRect">
            <a:avLst>
              <a:gd fmla="val 21429" name="adj"/>
            </a:avLst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2"/>
          <p:cNvSpPr/>
          <p:nvPr/>
        </p:nvSpPr>
        <p:spPr>
          <a:xfrm>
            <a:off x="4773168" y="129844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5349240" y="1298448"/>
            <a:ext cx="3410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Angular 17 standalone — no NgModule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4773168" y="1673352"/>
            <a:ext cx="39867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Angular 17 removes NgModule from the default workflow. Every component declares its own imports[], and app-level config moved to app.config.ts with provideRouter() and provideHttpClient().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228600" y="3063240"/>
            <a:ext cx="4206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2"/>
          <p:cNvSpPr/>
          <p:nvPr/>
        </p:nvSpPr>
        <p:spPr>
          <a:xfrm>
            <a:off x="228600" y="3063240"/>
            <a:ext cx="4206240" cy="347472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2"/>
          <p:cNvSpPr/>
          <p:nvPr/>
        </p:nvSpPr>
        <p:spPr>
          <a:xfrm>
            <a:off x="338328" y="3108960"/>
            <a:ext cx="502920" cy="256032"/>
          </a:xfrm>
          <a:prstGeom prst="roundRect">
            <a:avLst>
              <a:gd fmla="val 21429" name="adj"/>
            </a:avLst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2"/>
          <p:cNvSpPr/>
          <p:nvPr/>
        </p:nvSpPr>
        <p:spPr>
          <a:xfrm>
            <a:off x="338328" y="312724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914400" y="3127248"/>
            <a:ext cx="3410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Stale state after delete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338328" y="3502152"/>
            <a:ext cx="39867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Using setVerses(verses.filter(...)) captured a stale closure. The fix — setVerses(prev =&gt; prev.filter(...)) — always reads the current state snapshot and is now a default pattern.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4663440" y="3063240"/>
            <a:ext cx="4206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2"/>
          <p:cNvSpPr/>
          <p:nvPr/>
        </p:nvSpPr>
        <p:spPr>
          <a:xfrm>
            <a:off x="4663440" y="3063240"/>
            <a:ext cx="4206240" cy="347472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>
            <a:off x="4773168" y="3108960"/>
            <a:ext cx="502920" cy="256032"/>
          </a:xfrm>
          <a:prstGeom prst="roundRect">
            <a:avLst>
              <a:gd fmla="val 21429" name="adj"/>
            </a:avLst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2"/>
          <p:cNvSpPr/>
          <p:nvPr/>
        </p:nvSpPr>
        <p:spPr>
          <a:xfrm>
            <a:off x="4773168" y="312724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M3-5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5349240" y="3127248"/>
            <a:ext cx="3410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CORS — both ports must talk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4773168" y="3502152"/>
            <a:ext cx="398678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 API runs on :3000; Angular on :4200; React on :5173. The cors() middleware in Express was the single most important configuration item to validate before writing any front-end code.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164592" y="2011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RETROSPECTIVE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164592" y="502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8" name="Google Shape;538;p23"/>
          <p:cNvCxnSpPr/>
          <p:nvPr/>
        </p:nvCxnSpPr>
        <p:spPr>
          <a:xfrm>
            <a:off x="164592" y="1097280"/>
            <a:ext cx="8686800" cy="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23"/>
          <p:cNvSpPr/>
          <p:nvPr/>
        </p:nvSpPr>
        <p:spPr>
          <a:xfrm>
            <a:off x="201168" y="1280160"/>
            <a:ext cx="365760" cy="36576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3"/>
          <p:cNvSpPr/>
          <p:nvPr/>
        </p:nvSpPr>
        <p:spPr>
          <a:xfrm>
            <a:off x="201168" y="1289304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658368" y="128930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API contracts before writing any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658368" y="1618488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TypeScript interfaces for request/response shapes caught dozens of potential runtime errors at compile time across all three milestones.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4645152" y="1280160"/>
            <a:ext cx="365760" cy="36576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3"/>
          <p:cNvSpPr/>
          <p:nvPr/>
        </p:nvSpPr>
        <p:spPr>
          <a:xfrm>
            <a:off x="4645152" y="1289304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5102352" y="128930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one endpoint at a time in Postman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5102352" y="1618488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Wiring multiple routes before testing any led to compounded errors. Test → confirm → commit is faster overall, especially with nested resources.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201168" y="2542032"/>
            <a:ext cx="365760" cy="36576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3"/>
          <p:cNvSpPr/>
          <p:nvPr/>
        </p:nvSpPr>
        <p:spPr>
          <a:xfrm>
            <a:off x="201168" y="255117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658368" y="255117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FK constraints simplify the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3"/>
          <p:cNvSpPr/>
          <p:nvPr/>
        </p:nvSpPr>
        <p:spPr>
          <a:xfrm>
            <a:off x="658368" y="2880360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ON DELETE CASCADE on verse_notes eliminated all application-level cleanup logic. Good schema design reduces service layer complexity significantly.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4645152" y="2542032"/>
            <a:ext cx="365760" cy="36576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3"/>
          <p:cNvSpPr/>
          <p:nvPr/>
        </p:nvSpPr>
        <p:spPr>
          <a:xfrm>
            <a:off x="4645152" y="255117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5102352" y="255117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frameworks produce the same result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5102352" y="2880360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Angular and React are visually identical and consume the same API. The choice matters far less than clean architecture — the service layer made the React port straightforward.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201168" y="3803904"/>
            <a:ext cx="365760" cy="36576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>
            <a:off x="201168" y="3813048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658368" y="3813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Vite is noticeably faster than webpack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658368" y="4142232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HMR in Vite is near-instant. For course project iteration speed, the developer experience difference is significant enough to justify Vite for any future React work.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4645152" y="3803904"/>
            <a:ext cx="365760" cy="36576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4645152" y="3813048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5102352" y="3813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Accessibility is not optional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5102352" y="4142232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Building a tool centered on scripture highlights the responsibility to serve all users. WCAG compliance is both a technical best practice and an expression of loving your neighbor.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4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"Whatever you do, work at it with all your heart,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working for the Lord, not for human masters."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— Colossians 3:23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4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1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9E1F2"/>
                </a:solidFill>
                <a:latin typeface="Calibri"/>
                <a:ea typeface="Calibri"/>
                <a:cs typeface="Calibri"/>
                <a:sym typeface="Calibri"/>
              </a:rPr>
              <a:t>Victor Manuel Marrujo Verdugo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4"/>
          <p:cNvSpPr/>
          <p:nvPr/>
        </p:nvSpPr>
        <p:spPr>
          <a:xfrm>
            <a:off x="274320" y="4169664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CST-391  ·  Grand Canyon University  ·  Professor Bobby Estey  ·  May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